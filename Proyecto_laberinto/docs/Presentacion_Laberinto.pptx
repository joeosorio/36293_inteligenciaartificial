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6C+RMtIOFQwIdDh5sZU01qBU1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DA553A-AD76-4BB9-8C8A-F12471A03F8D}">
  <a:tblStyle styleId="{63DA553A-AD76-4BB9-8C8A-F12471A03F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OSORIO OSORIO" userId="bb5235a0-4d5f-440e-8092-48d38e8725ae" providerId="ADAL" clId="{A462A6C6-F90F-4AE5-88DC-7A35E0083B3C}"/>
    <pc:docChg chg="custSel modSld">
      <pc:chgData name="JOSHUA OSORIO OSORIO" userId="bb5235a0-4d5f-440e-8092-48d38e8725ae" providerId="ADAL" clId="{A462A6C6-F90F-4AE5-88DC-7A35E0083B3C}" dt="2026-03-19T18:04:16.295" v="4" actId="20577"/>
      <pc:docMkLst>
        <pc:docMk/>
      </pc:docMkLst>
      <pc:sldChg chg="delSp modSp mod">
        <pc:chgData name="JOSHUA OSORIO OSORIO" userId="bb5235a0-4d5f-440e-8092-48d38e8725ae" providerId="ADAL" clId="{A462A6C6-F90F-4AE5-88DC-7A35E0083B3C}" dt="2026-03-19T18:04:16.295" v="4" actId="20577"/>
        <pc:sldMkLst>
          <pc:docMk/>
          <pc:sldMk cId="0" sldId="265"/>
        </pc:sldMkLst>
        <pc:spChg chg="del">
          <ac:chgData name="JOSHUA OSORIO OSORIO" userId="bb5235a0-4d5f-440e-8092-48d38e8725ae" providerId="ADAL" clId="{A462A6C6-F90F-4AE5-88DC-7A35E0083B3C}" dt="2026-03-19T18:04:12.472" v="0" actId="478"/>
          <ac:spMkLst>
            <pc:docMk/>
            <pc:sldMk cId="0" sldId="265"/>
            <ac:spMk id="263" creationId="{00000000-0000-0000-0000-000000000000}"/>
          </ac:spMkLst>
        </pc:spChg>
        <pc:spChg chg="mod">
          <ac:chgData name="JOSHUA OSORIO OSORIO" userId="bb5235a0-4d5f-440e-8092-48d38e8725ae" providerId="ADAL" clId="{A462A6C6-F90F-4AE5-88DC-7A35E0083B3C}" dt="2026-03-19T18:04:16.295" v="4" actId="20577"/>
          <ac:spMkLst>
            <pc:docMk/>
            <pc:sldMk cId="0" sldId="265"/>
            <ac:spMk id="264" creationId="{00000000-0000-0000-0000-000000000000}"/>
          </ac:spMkLst>
        </pc:spChg>
        <pc:spChg chg="del">
          <ac:chgData name="JOSHUA OSORIO OSORIO" userId="bb5235a0-4d5f-440e-8092-48d38e8725ae" providerId="ADAL" clId="{A462A6C6-F90F-4AE5-88DC-7A35E0083B3C}" dt="2026-03-19T18:04:14.044" v="1" actId="478"/>
          <ac:spMkLst>
            <pc:docMk/>
            <pc:sldMk cId="0" sldId="265"/>
            <ac:spMk id="26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0F2942"/>
          </a:solidFill>
          <a:ln w="1015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Inteligencia  Artificial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Agentes Inteligentes para Resolución de Laberintos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" name="Google Shape;20;p1"/>
          <p:cNvGraphicFramePr/>
          <p:nvPr/>
        </p:nvGraphicFramePr>
        <p:xfrm>
          <a:off x="1371600" y="3017520"/>
          <a:ext cx="6400800" cy="1645980"/>
        </p:xfrm>
        <a:graphic>
          <a:graphicData uri="http://schemas.openxmlformats.org/drawingml/2006/table">
            <a:tbl>
              <a:tblPr>
                <a:noFill/>
                <a:tableStyleId>{63DA553A-AD76-4BB9-8C8A-F12471A03F8D}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Institución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Universidad Autonoma de Baja California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Materia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Inteligencia Artificial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Profesor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Mauricio A. Sanchez H.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 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Joshua Osorio O. – 1293271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 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Manuel A. Cruz L. – 1298063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Marzo de 2026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914400"/>
            <a:ext cx="54864" cy="38404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02336" y="10241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02336" y="1353312"/>
            <a:ext cx="256032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Un laberinto es un grafo G=(V,E) donde V son celdas y E son los pasajes. El objetivo es encontrar un camino del nodo origen al destino.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200400" y="914400"/>
            <a:ext cx="54864" cy="3840480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328416" y="10241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¿Por qué es de IA?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28416" y="1353312"/>
            <a:ext cx="256032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Requiere que un agente tome decisiones autónomas en un entorno desconocido, eligiendo acciones para maximizar su probabilidad de éxito.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126480" y="914400"/>
            <a:ext cx="54864" cy="384048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254496" y="10241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Nuestra solución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54496" y="1353312"/>
            <a:ext cx="256032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3 algoritmos de generación + 3 agentes inteligentes + visualización en tiempo real con pygame y ejecución paralela.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Plataforma de Desarrollo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4320" y="914400"/>
            <a:ext cx="2926080" cy="38404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Python 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1480" y="196596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✔ Sintaxis clara y legible</a:t>
            </a:r>
            <a:b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✔ Amplio ecosistema de librerías</a:t>
            </a:r>
            <a:b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✔ Ideal para prototipado</a:t>
            </a:r>
            <a:b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✔ Comunidad activa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" name="Google Shape;51;p3"/>
          <p:cNvGraphicFramePr/>
          <p:nvPr/>
        </p:nvGraphicFramePr>
        <p:xfrm>
          <a:off x="3474720" y="914400"/>
          <a:ext cx="5394950" cy="2743200"/>
        </p:xfrm>
        <a:graphic>
          <a:graphicData uri="http://schemas.openxmlformats.org/drawingml/2006/table">
            <a:tbl>
              <a:tblPr>
                <a:noFill/>
                <a:tableStyleId>{63DA553A-AD76-4BB9-8C8A-F12471A03F8D}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Librería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C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pygame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en tiempo real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multiprocessing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Ventanas paralelas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abc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Clases base abstractas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collections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Cola FIFO para BFS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Medición de rendimiento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Google Shape;52;p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00400" y="868680"/>
            <a:ext cx="2743200" cy="640080"/>
          </a:xfrm>
          <a:prstGeom prst="rect">
            <a:avLst/>
          </a:prstGeom>
          <a:solidFill>
            <a:srgbClr val="4A235A"/>
          </a:solidFill>
          <a:ln w="15225" cap="flat" cmpd="sng">
            <a:solidFill>
              <a:srgbClr val="C39B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200400" y="8686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39BD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39BD3"/>
                </a:solidFill>
                <a:latin typeface="Calibri"/>
                <a:ea typeface="Calibri"/>
                <a:cs typeface="Calibri"/>
                <a:sym typeface="Calibri"/>
              </a:rPr>
              <a:t>main.py  —  Orquestador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82880" y="1737360"/>
            <a:ext cx="1600200" cy="10972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1B8F6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28600" y="18288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8F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8F6E"/>
                </a:solidFill>
                <a:latin typeface="Calibri"/>
                <a:ea typeface="Calibri"/>
                <a:cs typeface="Calibri"/>
                <a:sym typeface="Calibri"/>
              </a:rPr>
              <a:t>maze/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28600" y="22128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Cell  ·  Maze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>
            <a:off x="982980" y="1508760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8C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" name="Google Shape;66;p4"/>
          <p:cNvSpPr/>
          <p:nvPr/>
        </p:nvSpPr>
        <p:spPr>
          <a:xfrm>
            <a:off x="1920240" y="1737360"/>
            <a:ext cx="1600200" cy="10972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1B8F6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965960" y="18288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8F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8F6E"/>
                </a:solidFill>
                <a:latin typeface="Calibri"/>
                <a:ea typeface="Calibri"/>
                <a:cs typeface="Calibri"/>
                <a:sym typeface="Calibri"/>
              </a:rPr>
              <a:t>generators/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965960" y="22128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Recursive · Prim · Wilson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2720340" y="1508760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8C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0" name="Google Shape;70;p4"/>
          <p:cNvSpPr/>
          <p:nvPr/>
        </p:nvSpPr>
        <p:spPr>
          <a:xfrm>
            <a:off x="3657600" y="1737360"/>
            <a:ext cx="1600200" cy="10972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B03A2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703320" y="18288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agents/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703320" y="22128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DFS · BFS · RightHand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4457700" y="1508760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8C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4" name="Google Shape;74;p4"/>
          <p:cNvSpPr/>
          <p:nvPr/>
        </p:nvSpPr>
        <p:spPr>
          <a:xfrm>
            <a:off x="5394960" y="1737360"/>
            <a:ext cx="1600200" cy="10972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440680" y="18288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visualization/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40680" y="22128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renderer · colors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6195060" y="1508760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8C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4"/>
          <p:cNvSpPr/>
          <p:nvPr/>
        </p:nvSpPr>
        <p:spPr>
          <a:xfrm>
            <a:off x="7132320" y="1737360"/>
            <a:ext cx="1600200" cy="109728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7D66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7178040" y="18288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utils/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178040" y="22128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stats.py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7932420" y="1508760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8CA3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2" name="Google Shape;82;p4"/>
          <p:cNvSpPr/>
          <p:nvPr/>
        </p:nvSpPr>
        <p:spPr>
          <a:xfrm>
            <a:off x="274320" y="3063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4320" y="3383280"/>
            <a:ext cx="1554480" cy="50292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274320" y="3383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Inicializar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1828800" y="36347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4"/>
          <p:cNvSpPr/>
          <p:nvPr/>
        </p:nvSpPr>
        <p:spPr>
          <a:xfrm>
            <a:off x="2011680" y="3383280"/>
            <a:ext cx="1554480" cy="50292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1B8F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2011680" y="3383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8F6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8F6E"/>
                </a:solidFill>
                <a:latin typeface="Calibri"/>
                <a:ea typeface="Calibri"/>
                <a:cs typeface="Calibri"/>
                <a:sym typeface="Calibri"/>
              </a:rPr>
              <a:t>Generar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3566160" y="36347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4"/>
          <p:cNvSpPr/>
          <p:nvPr/>
        </p:nvSpPr>
        <p:spPr>
          <a:xfrm>
            <a:off x="3749040" y="3383280"/>
            <a:ext cx="1554480" cy="50292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B03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749040" y="3383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B03A2E"/>
                </a:solidFill>
                <a:latin typeface="Calibri"/>
                <a:ea typeface="Calibri"/>
                <a:cs typeface="Calibri"/>
                <a:sym typeface="Calibri"/>
              </a:rPr>
              <a:t>Resolver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4"/>
          <p:cNvCxnSpPr/>
          <p:nvPr/>
        </p:nvCxnSpPr>
        <p:spPr>
          <a:xfrm>
            <a:off x="5303520" y="36347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4"/>
          <p:cNvSpPr/>
          <p:nvPr/>
        </p:nvSpPr>
        <p:spPr>
          <a:xfrm>
            <a:off x="5486400" y="3383280"/>
            <a:ext cx="1554480" cy="50292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486400" y="3383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Visualizar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4"/>
          <p:cNvCxnSpPr/>
          <p:nvPr/>
        </p:nvCxnSpPr>
        <p:spPr>
          <a:xfrm>
            <a:off x="7040880" y="3634740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4"/>
          <p:cNvSpPr/>
          <p:nvPr/>
        </p:nvSpPr>
        <p:spPr>
          <a:xfrm>
            <a:off x="7223760" y="3383280"/>
            <a:ext cx="1554480" cy="50292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7D66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7223760" y="3383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Estadísticas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Algoritmos de Generación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286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Recursive Backtracker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65760" y="1417320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1. Parte de una celda aleatoria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2. Avanza a vecino no visitado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3. Retrocede si no hay salida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4. Termina cuando visitó todo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20040" y="3611880"/>
            <a:ext cx="2651760" cy="548640"/>
          </a:xfrm>
          <a:prstGeom prst="rect">
            <a:avLst/>
          </a:prstGeom>
          <a:solidFill>
            <a:srgbClr val="0F2942"/>
          </a:solidFill>
          <a:ln w="101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6576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 Pasajes largos, pocas bifurcaciones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2004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29184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Prim Aleatorizado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337560" y="1417320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1. Agrega celda inicial al árbol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2. Mantiene lista de paredes frontera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3. Elige pared aleatoria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4. Conecta celda fuera del árbol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91840" y="3611880"/>
            <a:ext cx="2651760" cy="548640"/>
          </a:xfrm>
          <a:prstGeom prst="rect">
            <a:avLst/>
          </a:prstGeom>
          <a:solidFill>
            <a:srgbClr val="0F2942"/>
          </a:solidFill>
          <a:ln w="1015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33756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 Muchas ramas cortas, textura densa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1722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26364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Wilson's Algorithm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309360" y="1417320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1. Marca celda inicial en el árbol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2. Caminata aleatoria desde celda libre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3. Borra bucles detectados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4. Agrega el camino al árbol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63640" y="3611880"/>
            <a:ext cx="2651760" cy="548640"/>
          </a:xfrm>
          <a:prstGeom prst="rect">
            <a:avLst/>
          </a:prstGeom>
          <a:solidFill>
            <a:srgbClr val="0F2942"/>
          </a:solidFill>
          <a:ln w="1015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30936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→ Distribución uniforme, matemáticamente justo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Agentes de Resolución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286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228600" y="914400"/>
            <a:ext cx="2834640" cy="5029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20040" y="914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DFS 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Depth First Search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20040" y="1554480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554480" y="1554480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65760" y="155448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600200" y="15544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Pila  (LIFO)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20040" y="1993392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554480" y="1993392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65760" y="1993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Óptimo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600200" y="19933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20040" y="2432304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554480" y="2432304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65760" y="2432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600200" y="24323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5760" y="297180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Va lo más profundo posible antes de retroceder. Rápido pero no garantiza el camino más corto.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2004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200400" y="914400"/>
            <a:ext cx="2834640" cy="502920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291840" y="914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BFS 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91840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Breadth First Search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291840" y="1554480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526280" y="1554480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337560" y="155448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0" y="15544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Cola  (FIFO)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91840" y="1993392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526280" y="1993392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337560" y="1993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Óptimo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572000" y="19933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Sí 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291840" y="2432304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526280" y="2432304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337560" y="2432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0" y="24323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337560" y="297180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Explora por niveles como ondas. Garantiza el camino más corto en número de pasos.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172200" y="914400"/>
            <a:ext cx="2834640" cy="3931920"/>
          </a:xfrm>
          <a:prstGeom prst="rect">
            <a:avLst/>
          </a:prstGeom>
          <a:solidFill>
            <a:srgbClr val="162032"/>
          </a:solidFill>
          <a:ln w="1905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172200" y="914400"/>
            <a:ext cx="2834640" cy="50292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263640" y="914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Right Hand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263640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Regla de la mano derecha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263640" y="1554480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7498080" y="1554480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309360" y="155448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543800" y="15544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Dirección actual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63640" y="1993392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0" y="1993392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309360" y="1993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Óptimo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543800" y="19933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263640" y="2432304"/>
            <a:ext cx="1188720" cy="347472"/>
          </a:xfrm>
          <a:prstGeom prst="rect">
            <a:avLst/>
          </a:prstGeom>
          <a:solidFill>
            <a:srgbClr val="0F294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498080" y="2432304"/>
            <a:ext cx="1371600" cy="347472"/>
          </a:xfrm>
          <a:prstGeom prst="rect">
            <a:avLst/>
          </a:prstGeom>
          <a:solidFill>
            <a:srgbClr val="162032"/>
          </a:solidFill>
          <a:ln w="95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309360" y="2432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543800" y="24323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O(pasos)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09360" y="297180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Sigue siempre la pared derecha. Heurístico clásico, funciona solo en laberintos simplemente conexos.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Visualización en Tiempo Real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02336" y="102412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Multiprocessing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02336" y="1353312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El proceso principal genera el laberinto y serializa las paredes. Cada proceso hijo recibe los datos, reconstruye el laberinto y abre su propia ventana pygame de forma completamente independiente.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74320" y="2880360"/>
            <a:ext cx="54864" cy="1920240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02336" y="299008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Mismo laberinto, diferente agente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02336" y="3319272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Los tres procesos reciben exactamente la misma estructura de paredes, garantizando una comparación justa entre algoritmos en condiciones idénticas.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Leyenda de colores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663440" y="1371600"/>
            <a:ext cx="347472" cy="347472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120640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Verde  —  Celda de inicio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663440" y="1901952"/>
            <a:ext cx="347472" cy="347472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120640" y="190195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Rojo  —  Celda meta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663440" y="2432304"/>
            <a:ext cx="347472" cy="347472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120640" y="243230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Naranja  —  Posición del agente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663440" y="2962656"/>
            <a:ext cx="347472" cy="347472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120640" y="2962656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Azul  —  Celda visitada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663440" y="3493008"/>
            <a:ext cx="347472" cy="347472"/>
          </a:xfrm>
          <a:prstGeom prst="rect">
            <a:avLst/>
          </a:prstGeom>
          <a:solidFill>
            <a:srgbClr val="F1C40F"/>
          </a:solidFill>
          <a:ln w="12700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120640" y="349300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Amarillo  —  Camino solución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63440" y="4023360"/>
            <a:ext cx="347472" cy="347472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120640" y="40233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Blanco  —  Pared activa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1C40F"/>
          </a:solidFill>
          <a:ln w="12700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Laberinto 20×20 — Recursive Backtracker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8"/>
          <p:cNvGraphicFramePr/>
          <p:nvPr/>
        </p:nvGraphicFramePr>
        <p:xfrm>
          <a:off x="457200" y="1143000"/>
          <a:ext cx="8229625" cy="2267700"/>
        </p:xfrm>
        <a:graphic>
          <a:graphicData uri="http://schemas.openxmlformats.org/drawingml/2006/table">
            <a:tbl>
              <a:tblPr>
                <a:noFill/>
                <a:tableStyleId>{63DA553A-AD76-4BB9-8C8A-F12471A03F8D}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Algoritmo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Nodos visitados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del camino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11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(ms)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CC7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CC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C1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Hand Rule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[__________]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B6CA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1" name="Google Shape;221;p8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Observaciones clave: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BFS garantizó en todos los casos el camino de menor longitud</a:t>
            </a:r>
            <a:b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DFS exploró menos nodos pero no aseguró el camino óptimo</a:t>
            </a:r>
            <a:b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Right Hand Rule funciona solo en laberintos simplemente conexos</a:t>
            </a:r>
            <a:b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1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[AGREGAR OBSERVACIONES PROPIAS]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74320" y="960120"/>
            <a:ext cx="54864" cy="685800"/>
          </a:xfrm>
          <a:prstGeom prst="rect">
            <a:avLst/>
          </a:pr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BFS garantiza el camino óptimo a costa de mayor uso de memoria.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74320" y="1755648"/>
            <a:ext cx="8595360" cy="685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274320" y="1755648"/>
            <a:ext cx="54864" cy="6858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57200" y="175564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DFS es más rápido en exploración pero no asegura la solución más corta.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74320" y="2551176"/>
            <a:ext cx="8595360" cy="685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274320" y="2551176"/>
            <a:ext cx="54864" cy="68580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57200" y="255117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Right Hand Rule solo funciona en laberintos simplemente conexos (sin islas).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274320" y="3346704"/>
            <a:ext cx="54864" cy="685800"/>
          </a:xfrm>
          <a:prstGeom prst="rect">
            <a:avLst/>
          </a:prstGeom>
          <a:solidFill>
            <a:srgbClr val="F1C40F"/>
          </a:solidFill>
          <a:ln w="12700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57200" y="3346704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La arquitectura modular facilita agregar nuevos algoritmos sin modificar el resto.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4142232"/>
            <a:ext cx="8595360" cy="685800"/>
          </a:xfrm>
          <a:prstGeom prst="rect">
            <a:avLst/>
          </a:prstGeom>
          <a:solidFill>
            <a:srgbClr val="162032"/>
          </a:solidFill>
          <a:ln w="15225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274320" y="4142232"/>
            <a:ext cx="54864" cy="685800"/>
          </a:xfrm>
          <a:prstGeom prst="rect">
            <a:avLst/>
          </a:prstGeom>
          <a:solidFill>
            <a:srgbClr val="8CA3B8"/>
          </a:solidFill>
          <a:ln w="12700" cap="flat" cmpd="sng">
            <a:solidFill>
              <a:srgbClr val="8C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57200" y="41422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[AGREGAR CONCLUSIÓN PERSONAL DEL EQUIPO]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162032"/>
          </a:solidFill>
          <a:ln w="1015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48640" y="100584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97280" y="10058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Russell, S. &amp; Norvig, P. (2020). Artificial Intelligence: A Modern Approach (4th ed.). Pearson.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162032"/>
          </a:solidFill>
          <a:ln w="1015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48640" y="187452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097280" y="187452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pygame Community. (2024). pygame documentation. https://www.pygame.org/docs/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162032"/>
          </a:solidFill>
          <a:ln w="1015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48640" y="274320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097280" y="2743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Buck, J. (2015). Mazes for Programmers. Pragmatic Bookshelf.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40" y="361188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942"/>
          </a:solidFill>
          <a:ln w="12700" cap="flat" cmpd="sng">
            <a:solidFill>
              <a:srgbClr val="0F2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A3B8"/>
                </a:solidFill>
                <a:latin typeface="Calibri"/>
                <a:ea typeface="Calibri"/>
                <a:cs typeface="Calibri"/>
                <a:sym typeface="Calibri"/>
              </a:rPr>
              <a:t>Maze AI  —  [INSTITUCIÓN]  —  [AÑO]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Presentación en pantalla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JOSHUA OSORIO OSORIO</cp:lastModifiedBy>
  <cp:revision>1</cp:revision>
  <dcterms:created xsi:type="dcterms:W3CDTF">2026-03-13T18:41:04Z</dcterms:created>
  <dcterms:modified xsi:type="dcterms:W3CDTF">2026-03-19T18:04:21Z</dcterms:modified>
</cp:coreProperties>
</file>